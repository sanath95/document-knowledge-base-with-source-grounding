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C:\All\Personal\Semorai\Technical Interview Docs\Technical Interview Docs\AI_Engineer_Take_Home_Options.pdf (Task B requirements)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C:\All\Personal\Semorai\Document-Knowledge-Base-with-Source-Grounding\README.md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C:\All\Personal\Semorai\Document-Knowledge-Base-with-Source-Grounding\assets\ingestion-flow.png (visual reference)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C:\All\Personal\Semorai\Document-Knowledge-Base-with-Source-Grounding\README.md (implemented ingestion lifecycle and choices)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https://developers.openai.com/api/docs/models/text-embedding-3-small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https://openai.com/index/new-embedding-models-and-api-updates/ (multilingual benchmark and efficiency context)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C:\All\Personal\Semorai\Document-Knowledge-Base-with-Source-Grounding\assets\query-flow.png (visual reference)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C:\All\Personal\Semorai\Document-Knowledge-Base-with-Source-Grounding\README.md (implemented orchestration and validation behavior)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https://developers.openai.com/api/docs/models/gpt-5.4-nano (speed- and cost-sensitive structured tasks)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https://developers.openai.com/api/docs/models/gpt-5.4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C:/All/Personal/Semorai/Document-Knowledge-Base-with-Source-Grounding/docs/query_graph.png (compiled LangGraph visual)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C:/All/Personal/Semorai/Document-Knowledge-Base-with-Source-Grounding/README.md (workflow and checkpoint behavior)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C:/All/Personal/Semorai/Document-Knowledge-Base-with-Source-Grounding/src/orchestration/query_graph.py (compiled state graph)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C:/All/Personal/Semorai/Document-Knowledge-Base-with-Source-Grounding/src/serve.py (SQLite checkpointer wiring)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07" name="Google Shape;10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C:\All\Personal\Semorai\Document-Knowledge-Base-with-Source-Grounding\assets\query-flow.png (visual reference)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C:\All\Personal\Semorai\Document-Knowledge-Base-with-Source-Grounding\README.md (implemented dense + BM25 + RRF + cross-encoder pipeline)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https://developers.openai.com/api/docs/models/text-embedding-3-small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6a37e47e0_0_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g3f6a37e47e0_0_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C:/All/Personal/Semorai/Document-Knowledge-Base-with-Source-Grounding/assets/example input.png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C:/All/Personal/Semorai/Document-Knowledge-Base-with-Source-Grounding/tmp/latest-deck/cropped-assets/example-output-cropped.png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65" name="Google Shape;165;g3f6a37e47e0_0_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6a37e47e0_0_2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g3f6a37e47e0_0_2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C:/All/Personal/Semorai/Document-Knowledge-Base-with-Source-Grounding/tmp/latest-deck/cropped-assets/langfuse-trace-cropped.png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189" name="Google Shape;189;g3f6a37e47e0_0_2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f6a37e47e0_0_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g3f6a37e47e0_0_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C:/All/Personal/Semorai/Document-Knowledge-Base-with-Source-Grounding/assets/langfuse - latency.png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C:/All/Personal/Semorai/Document-Knowledge-Base-with-Source-Grounding/assets/langfuse - costs and scores.png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01" name="Google Shape;201;g3f6a37e47e0_0_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" name="Google Shape;22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C:\All\Personal\Semorai\Technical Interview Docs\Technical Interview Docs\AI_Engineer_Take_Home_Options.pdf (evaluation criteria and Task B guidance)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C:\All\Personal\Semorai\Document-Knowledge-Base-with-Source-Grounding\README.md (implemented decisions and known limitations)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22" name="Google Shape;22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6a44d65d7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g3f6a44d65d7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production-readiness roadmap priorities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[/Sources]</a:t>
            </a:r>
            <a:endParaRPr/>
          </a:p>
        </p:txBody>
      </p:sp>
      <p:sp>
        <p:nvSpPr>
          <p:cNvPr id="252" name="Google Shape;252;g3f6a44d65d7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sanath95/Document-Knowledge-Base-with-Source-Ground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85800" y="590550"/>
            <a:ext cx="419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5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0A8F65"/>
                </a:solidFill>
                <a:latin typeface="Arial"/>
                <a:ea typeface="Arial"/>
                <a:cs typeface="Arial"/>
                <a:sym typeface="Arial"/>
              </a:rPr>
              <a:t>AI ENGINEER TAKE-HOME · TASK B</a:t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" y="1257300"/>
            <a:ext cx="7334400" cy="1345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Play"/>
              <a:buNone/>
            </a:pPr>
            <a:r>
              <a:rPr b="1" lang="en-US" sz="44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Document Knowledge Base</a:t>
            </a:r>
            <a:endParaRPr sz="10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4800"/>
              <a:buFont typeface="Play"/>
              <a:buNone/>
            </a:pPr>
            <a:r>
              <a:rPr b="1" lang="en-US" sz="44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with Source Grounding</a:t>
            </a:r>
            <a:endParaRPr sz="1000"/>
          </a:p>
        </p:txBody>
      </p:sp>
      <p:sp>
        <p:nvSpPr>
          <p:cNvPr id="18" name="Google Shape;18;p3"/>
          <p:cNvSpPr/>
          <p:nvPr/>
        </p:nvSpPr>
        <p:spPr>
          <a:xfrm>
            <a:off x="723900" y="3448050"/>
            <a:ext cx="6762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250"/>
              <a:buFont typeface="Arial"/>
              <a:buNone/>
            </a:pPr>
            <a:r>
              <a:rPr b="0" lang="en-US" sz="22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Reliable, evidence-grounded Q&amp;A across multilingual documents</a:t>
            </a:r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723900" y="4438650"/>
            <a:ext cx="7239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47625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723900" y="4686300"/>
            <a:ext cx="67627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0" lang="en-US" sz="18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Answer only from retrieved evidence, cite the supporting document and page, and state clearly when evidence is insufficient.</a:t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458200" y="1504950"/>
            <a:ext cx="2038350" cy="781050"/>
          </a:xfrm>
          <a:prstGeom prst="roundRect">
            <a:avLst>
              <a:gd fmla="val 14634" name="adj"/>
            </a:avLst>
          </a:prstGeom>
          <a:solidFill>
            <a:srgbClr val="E8F7F1"/>
          </a:solidFill>
          <a:ln cap="flat" cmpd="sng" w="1905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654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06654A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458200" y="2838450"/>
            <a:ext cx="2038350" cy="781050"/>
          </a:xfrm>
          <a:prstGeom prst="roundRect">
            <a:avLst>
              <a:gd fmla="val 14634" name="adj"/>
            </a:avLst>
          </a:prstGeom>
          <a:solidFill>
            <a:srgbClr val="F0EBFF"/>
          </a:solidFill>
          <a:ln cap="flat" cmpd="sng" w="1905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115300" y="4171950"/>
            <a:ext cx="2724150" cy="781050"/>
          </a:xfrm>
          <a:prstGeom prst="roundRect">
            <a:avLst>
              <a:gd fmla="val 14634" name="adj"/>
            </a:avLst>
          </a:prstGeom>
          <a:solidFill>
            <a:srgbClr val="E8F0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E91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63E91"/>
                </a:solidFill>
                <a:latin typeface="Arial"/>
                <a:ea typeface="Arial"/>
                <a:cs typeface="Arial"/>
                <a:sym typeface="Arial"/>
              </a:rPr>
              <a:t>ANSWER + CITATION</a:t>
            </a:r>
            <a:endParaRPr/>
          </a:p>
        </p:txBody>
      </p:sp>
      <p:cxnSp>
        <p:nvCxnSpPr>
          <p:cNvPr id="24" name="Google Shape;24;p3"/>
          <p:cNvCxnSpPr>
            <a:stCxn id="21" idx="2"/>
            <a:endCxn id="22" idx="0"/>
          </p:cNvCxnSpPr>
          <p:nvPr/>
        </p:nvCxnSpPr>
        <p:spPr>
          <a:xfrm>
            <a:off x="9477375" y="2286000"/>
            <a:ext cx="0" cy="552600"/>
          </a:xfrm>
          <a:prstGeom prst="straightConnector1">
            <a:avLst/>
          </a:prstGeom>
          <a:noFill/>
          <a:ln cap="flat" cmpd="sng" w="23800">
            <a:solidFill>
              <a:srgbClr val="0A8F65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25" name="Google Shape;25;p3"/>
          <p:cNvCxnSpPr>
            <a:stCxn id="22" idx="2"/>
            <a:endCxn id="23" idx="0"/>
          </p:cNvCxnSpPr>
          <p:nvPr/>
        </p:nvCxnSpPr>
        <p:spPr>
          <a:xfrm>
            <a:off x="9477375" y="3619500"/>
            <a:ext cx="0" cy="552600"/>
          </a:xfrm>
          <a:prstGeom prst="straightConnector1">
            <a:avLst/>
          </a:prstGeom>
          <a:noFill/>
          <a:ln cap="flat" cmpd="sng" w="23800">
            <a:solidFill>
              <a:srgbClr val="6D3DE7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26" name="Google Shape;26;p3"/>
          <p:cNvSpPr/>
          <p:nvPr/>
        </p:nvSpPr>
        <p:spPr>
          <a:xfrm>
            <a:off x="8248650" y="5334000"/>
            <a:ext cx="2457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Grounded by design</a:t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85800" y="6429375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r>
              <a:rPr lang="en-US" sz="1050">
                <a:solidFill>
                  <a:srgbClr val="64748B"/>
                </a:solidFill>
              </a:rPr>
              <a:t>Sanath Vijay Haritsa</a:t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723900" y="2838600"/>
            <a:ext cx="7076700" cy="17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lang="en-US" sz="1150">
                <a:solidFill>
                  <a:srgbClr val="64748B"/>
                </a:solidFill>
              </a:rPr>
              <a:t>Codebase: </a:t>
            </a:r>
            <a:br>
              <a:rPr lang="en-US" sz="1150">
                <a:solidFill>
                  <a:srgbClr val="64748B"/>
                </a:solidFill>
              </a:rPr>
            </a:br>
            <a:r>
              <a:rPr lang="en-US" sz="1200" u="sng">
                <a:solidFill>
                  <a:schemeClr val="hlink"/>
                </a:solidFill>
                <a:hlinkClick r:id="rId3"/>
              </a:rPr>
              <a:t>sanath95/Document-Knowledge-Base-with-Source-Grounding: Semorai - Technical Interview Task</a:t>
            </a:r>
            <a:r>
              <a:rPr lang="en-US" sz="1200">
                <a:solidFill>
                  <a:schemeClr val="dk1"/>
                </a:solidFill>
              </a:rPr>
              <a:t> 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685800" y="2857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8F65"/>
                </a:solidFill>
                <a:latin typeface="Arial"/>
                <a:ea typeface="Arial"/>
                <a:cs typeface="Arial"/>
                <a:sym typeface="Arial"/>
              </a:rPr>
              <a:t>INGESTION</a:t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85800" y="571500"/>
            <a:ext cx="12266100" cy="552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Page-aware ingestion preserves source traceability</a:t>
            </a:r>
            <a:endParaRPr/>
          </a:p>
        </p:txBody>
      </p:sp>
      <p:cxnSp>
        <p:nvCxnSpPr>
          <p:cNvPr id="36" name="Google Shape;36;p4"/>
          <p:cNvCxnSpPr/>
          <p:nvPr/>
        </p:nvCxnSpPr>
        <p:spPr>
          <a:xfrm>
            <a:off x="685800" y="1123950"/>
            <a:ext cx="108204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4"/>
          <p:cNvSpPr/>
          <p:nvPr/>
        </p:nvSpPr>
        <p:spPr>
          <a:xfrm>
            <a:off x="11125200" y="6629400"/>
            <a:ext cx="38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85800" y="1666875"/>
            <a:ext cx="1428750" cy="876300"/>
          </a:xfrm>
          <a:prstGeom prst="roundRect">
            <a:avLst>
              <a:gd fmla="val 13043" name="adj"/>
            </a:avLst>
          </a:prstGeom>
          <a:solidFill>
            <a:srgbClr val="E8F7F1"/>
          </a:solidFill>
          <a:ln cap="flat" cmpd="sng" w="1905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654A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06654A"/>
                </a:solidFill>
                <a:latin typeface="Arial"/>
                <a:ea typeface="Arial"/>
                <a:cs typeface="Arial"/>
                <a:sym typeface="Arial"/>
              </a:rPr>
              <a:t>PDF files</a:t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2647950" y="1666875"/>
            <a:ext cx="1619250" cy="876300"/>
          </a:xfrm>
          <a:prstGeom prst="roundRect">
            <a:avLst>
              <a:gd fmla="val 13043" name="adj"/>
            </a:avLst>
          </a:prstGeom>
          <a:solidFill>
            <a:srgbClr val="F0EBFF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Parse PDF</a:t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800600" y="1524000"/>
            <a:ext cx="2095500" cy="1162050"/>
          </a:xfrm>
          <a:prstGeom prst="roundRect">
            <a:avLst>
              <a:gd fmla="val 9836" name="adj"/>
            </a:avLst>
          </a:prstGeom>
          <a:solidFill>
            <a:srgbClr val="F0EBFF"/>
          </a:solidFill>
          <a:ln cap="flat" cmpd="sng" w="1905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Header-aware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chunking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429500" y="1524000"/>
            <a:ext cx="1952625" cy="1162050"/>
          </a:xfrm>
          <a:prstGeom prst="roundRect">
            <a:avLst>
              <a:gd fmla="val 9836" name="adj"/>
            </a:avLst>
          </a:prstGeom>
          <a:solidFill>
            <a:srgbClr val="F0EBFF"/>
          </a:solidFill>
          <a:ln cap="flat" cmpd="sng" w="1905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Generate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embeddings</a:t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9915525" y="1666875"/>
            <a:ext cx="1590675" cy="876300"/>
          </a:xfrm>
          <a:prstGeom prst="roundRect">
            <a:avLst>
              <a:gd fmla="val 13043" name="adj"/>
            </a:avLst>
          </a:prstGeom>
          <a:solidFill>
            <a:srgbClr val="E8F7F1"/>
          </a:solidFill>
          <a:ln cap="flat" cmpd="sng" w="1905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654A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06654A"/>
                </a:solidFill>
                <a:latin typeface="Arial"/>
                <a:ea typeface="Arial"/>
                <a:cs typeface="Arial"/>
                <a:sym typeface="Arial"/>
              </a:rPr>
              <a:t>ChromaDB</a:t>
            </a:r>
            <a:endParaRPr/>
          </a:p>
        </p:txBody>
      </p:sp>
      <p:cxnSp>
        <p:nvCxnSpPr>
          <p:cNvPr id="43" name="Google Shape;43;p4"/>
          <p:cNvCxnSpPr>
            <a:stCxn id="38" idx="3"/>
            <a:endCxn id="39" idx="1"/>
          </p:cNvCxnSpPr>
          <p:nvPr/>
        </p:nvCxnSpPr>
        <p:spPr>
          <a:xfrm>
            <a:off x="2114550" y="2105025"/>
            <a:ext cx="5334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4" name="Google Shape;44;p4"/>
          <p:cNvCxnSpPr>
            <a:stCxn id="39" idx="3"/>
            <a:endCxn id="40" idx="1"/>
          </p:cNvCxnSpPr>
          <p:nvPr/>
        </p:nvCxnSpPr>
        <p:spPr>
          <a:xfrm>
            <a:off x="4267200" y="2105025"/>
            <a:ext cx="5334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5" name="Google Shape;45;p4"/>
          <p:cNvCxnSpPr>
            <a:stCxn id="40" idx="3"/>
            <a:endCxn id="41" idx="1"/>
          </p:cNvCxnSpPr>
          <p:nvPr/>
        </p:nvCxnSpPr>
        <p:spPr>
          <a:xfrm>
            <a:off x="6896100" y="2105025"/>
            <a:ext cx="5334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46" name="Google Shape;46;p4"/>
          <p:cNvCxnSpPr>
            <a:stCxn id="41" idx="3"/>
            <a:endCxn id="42" idx="1"/>
          </p:cNvCxnSpPr>
          <p:nvPr/>
        </p:nvCxnSpPr>
        <p:spPr>
          <a:xfrm>
            <a:off x="9382125" y="2105025"/>
            <a:ext cx="5334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47" name="Google Shape;47;p4"/>
          <p:cNvSpPr/>
          <p:nvPr/>
        </p:nvSpPr>
        <p:spPr>
          <a:xfrm>
            <a:off x="2609850" y="272415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PyMuPDF4LLM</a:t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895850" y="2819400"/>
            <a:ext cx="1905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LangChain splitter</a:t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7334250" y="2819400"/>
            <a:ext cx="2143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text-embedding-3-small</a:t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9711861" y="2590800"/>
            <a:ext cx="199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6654A"/>
              </a:buClr>
              <a:buSzPts val="1275"/>
              <a:buFont typeface="Arial"/>
              <a:buNone/>
            </a:pPr>
            <a:r>
              <a:rPr b="0" lang="en-US" sz="1275">
                <a:solidFill>
                  <a:srgbClr val="06654A"/>
                </a:solidFill>
                <a:latin typeface="Arial"/>
                <a:ea typeface="Arial"/>
                <a:cs typeface="Arial"/>
                <a:sym typeface="Arial"/>
              </a:rPr>
              <a:t>vectors + source metadata</a:t>
            </a:r>
            <a:endParaRPr/>
          </a:p>
        </p:txBody>
      </p:sp>
      <p:cxnSp>
        <p:nvCxnSpPr>
          <p:cNvPr id="51" name="Google Shape;51;p4"/>
          <p:cNvCxnSpPr/>
          <p:nvPr/>
        </p:nvCxnSpPr>
        <p:spPr>
          <a:xfrm>
            <a:off x="685800" y="3676650"/>
            <a:ext cx="51435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4"/>
          <p:cNvSpPr/>
          <p:nvPr/>
        </p:nvSpPr>
        <p:spPr>
          <a:xfrm>
            <a:off x="685800" y="3857625"/>
            <a:ext cx="3181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Structured extraction</a:t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685800" y="4457700"/>
            <a:ext cx="3181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Markdown-oriented parsing preserves document structure, with OCR fallback for scanned content.</a:t>
            </a:r>
            <a:endParaRPr/>
          </a:p>
        </p:txBody>
      </p:sp>
      <p:cxnSp>
        <p:nvCxnSpPr>
          <p:cNvPr id="54" name="Google Shape;54;p4"/>
          <p:cNvCxnSpPr/>
          <p:nvPr/>
        </p:nvCxnSpPr>
        <p:spPr>
          <a:xfrm>
            <a:off x="4362450" y="3676650"/>
            <a:ext cx="51435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4"/>
          <p:cNvSpPr/>
          <p:nvPr/>
        </p:nvSpPr>
        <p:spPr>
          <a:xfrm>
            <a:off x="4362450" y="3857625"/>
            <a:ext cx="3181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Semantically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coherent chunks</a:t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4362450" y="4457700"/>
            <a:ext cx="3181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Headings retain section context; page boundaries keep every chunk attributable to its source.</a:t>
            </a:r>
            <a:endParaRPr/>
          </a:p>
        </p:txBody>
      </p:sp>
      <p:cxnSp>
        <p:nvCxnSpPr>
          <p:cNvPr id="57" name="Google Shape;57;p4"/>
          <p:cNvCxnSpPr/>
          <p:nvPr/>
        </p:nvCxnSpPr>
        <p:spPr>
          <a:xfrm>
            <a:off x="8039100" y="3676650"/>
            <a:ext cx="51435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4"/>
          <p:cNvSpPr/>
          <p:nvPr/>
        </p:nvSpPr>
        <p:spPr>
          <a:xfrm>
            <a:off x="8039100" y="3857625"/>
            <a:ext cx="3467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Efficient local index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8039100" y="4457700"/>
            <a:ext cx="34671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 small multilingual embedding model and embedded vector store minimize cost and operational setup.</a:t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685800" y="5943600"/>
            <a:ext cx="10820400" cy="533400"/>
          </a:xfrm>
          <a:prstGeom prst="roundRect">
            <a:avLst>
              <a:gd fmla="val 14286" name="adj"/>
            </a:avLst>
          </a:prstGeom>
          <a:solidFill>
            <a:srgbClr val="FFF6D8"/>
          </a:solidFill>
          <a:ln cap="flat" cmpd="sng" w="9525">
            <a:solidFill>
              <a:srgbClr val="E8CD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57250" y="6019800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624A10"/>
                </a:solidFill>
              </a:rPr>
              <a:t>Operational lifecycle </a:t>
            </a:r>
            <a:r>
              <a:rPr lang="en-US" sz="1300">
                <a:solidFill>
                  <a:srgbClr val="624A10"/>
                </a:solidFill>
              </a:rPr>
              <a:t>Ingestion is decoupled from serving: run it once for the initial corpus, then rerun when PDFs are added or updated.</a:t>
            </a:r>
            <a:endParaRPr b="1" sz="1500">
              <a:solidFill>
                <a:srgbClr val="624A1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685800" y="2857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8F65"/>
                </a:solidFill>
                <a:latin typeface="Arial"/>
                <a:ea typeface="Arial"/>
                <a:cs typeface="Arial"/>
                <a:sym typeface="Arial"/>
              </a:rPr>
              <a:t>QUERY ORCHESTRATION</a:t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85800" y="57150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Stateful orchestration controls the answer path</a:t>
            </a:r>
            <a:endParaRPr/>
          </a:p>
        </p:txBody>
      </p:sp>
      <p:cxnSp>
        <p:nvCxnSpPr>
          <p:cNvPr id="69" name="Google Shape;69;p5"/>
          <p:cNvCxnSpPr/>
          <p:nvPr/>
        </p:nvCxnSpPr>
        <p:spPr>
          <a:xfrm>
            <a:off x="685800" y="1123950"/>
            <a:ext cx="108204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5"/>
          <p:cNvSpPr/>
          <p:nvPr/>
        </p:nvSpPr>
        <p:spPr>
          <a:xfrm>
            <a:off x="11125200" y="6629400"/>
            <a:ext cx="38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685800" y="1257300"/>
            <a:ext cx="99834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425">
                <a:solidFill>
                  <a:srgbClr val="64748B"/>
                </a:solidFill>
              </a:rPr>
              <a:t>FastAPI backend ·  LangGraph orchestration ·  Langfuse observability  ·  Docker runtime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Arial"/>
              <a:buNone/>
            </a:pPr>
            <a:r>
              <a:t/>
            </a:r>
            <a:endParaRPr b="1" sz="1425">
              <a:solidFill>
                <a:srgbClr val="64748B"/>
              </a:solidFill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85800" y="2000250"/>
            <a:ext cx="1381125" cy="781050"/>
          </a:xfrm>
          <a:prstGeom prst="roundRect">
            <a:avLst>
              <a:gd fmla="val 14634" name="adj"/>
            </a:avLst>
          </a:prstGeom>
          <a:solidFill>
            <a:srgbClr val="E8F7F1"/>
          </a:solidFill>
          <a:ln cap="flat" cmpd="sng" w="1905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654A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6654A"/>
                </a:solidFill>
                <a:latin typeface="Arial"/>
                <a:ea typeface="Arial"/>
                <a:cs typeface="Arial"/>
                <a:sym typeface="Arial"/>
              </a:rPr>
              <a:t>POST /query</a:t>
            </a:r>
            <a:endParaRPr/>
          </a:p>
        </p:txBody>
      </p:sp>
      <p:sp>
        <p:nvSpPr>
          <p:cNvPr id="73" name="Google Shape;73;p5"/>
          <p:cNvSpPr/>
          <p:nvPr/>
        </p:nvSpPr>
        <p:spPr>
          <a:xfrm>
            <a:off x="2457450" y="1885950"/>
            <a:ext cx="1524000" cy="1009650"/>
          </a:xfrm>
          <a:prstGeom prst="roundRect">
            <a:avLst>
              <a:gd fmla="val 11321" name="adj"/>
            </a:avLst>
          </a:prstGeom>
          <a:solidFill>
            <a:srgbClr val="F0EBFF"/>
          </a:solidFill>
          <a:ln cap="flat" cmpd="sng" w="1905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Resolve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40258F"/>
                </a:solidFill>
              </a:rPr>
              <a:t>F</a:t>
            </a:r>
            <a:r>
              <a:rPr b="1" lang="en-US" sz="1650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ollow-up queries</a:t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4371975" y="1885950"/>
            <a:ext cx="1428750" cy="1009650"/>
          </a:xfrm>
          <a:prstGeom prst="roundRect">
            <a:avLst>
              <a:gd fmla="val 11321" name="adj"/>
            </a:avLst>
          </a:prstGeom>
          <a:solidFill>
            <a:srgbClr val="F0EBFF"/>
          </a:solidFill>
          <a:ln cap="flat" cmpd="sng" w="1905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Safety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gate</a:t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191250" y="1809750"/>
            <a:ext cx="1666875" cy="1162050"/>
          </a:xfrm>
          <a:prstGeom prst="roundRect">
            <a:avLst>
              <a:gd fmla="val 9836" name="adj"/>
            </a:avLst>
          </a:prstGeom>
          <a:solidFill>
            <a:srgbClr val="E8F0FF"/>
          </a:solidFill>
          <a:ln cap="flat" cmpd="sng" w="285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E91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63E91"/>
                </a:solidFill>
                <a:latin typeface="Arial"/>
                <a:ea typeface="Arial"/>
                <a:cs typeface="Arial"/>
                <a:sym typeface="Arial"/>
              </a:rPr>
              <a:t>Document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E91"/>
              </a:buClr>
              <a:buSzPts val="1725"/>
              <a:buFont typeface="Arial"/>
              <a:buNone/>
            </a:pPr>
            <a:r>
              <a:rPr b="1" lang="en-US" sz="1725">
                <a:solidFill>
                  <a:srgbClr val="163E91"/>
                </a:solidFill>
                <a:latin typeface="Arial"/>
                <a:ea typeface="Arial"/>
                <a:cs typeface="Arial"/>
                <a:sym typeface="Arial"/>
              </a:rPr>
              <a:t>QA agent</a:t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8248650" y="1885950"/>
            <a:ext cx="1524000" cy="1009650"/>
          </a:xfrm>
          <a:prstGeom prst="roundRect">
            <a:avLst>
              <a:gd fmla="val 11321" name="adj"/>
            </a:avLst>
          </a:prstGeom>
          <a:solidFill>
            <a:srgbClr val="F0EBFF"/>
          </a:solidFill>
          <a:ln cap="flat" cmpd="sng" w="1905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Validate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0163175" y="1885950"/>
            <a:ext cx="1343025" cy="1009650"/>
          </a:xfrm>
          <a:prstGeom prst="roundRect">
            <a:avLst>
              <a:gd fmla="val 11321" name="adj"/>
            </a:avLst>
          </a:prstGeom>
          <a:solidFill>
            <a:srgbClr val="E8F7F1"/>
          </a:solidFill>
          <a:ln cap="flat" cmpd="sng" w="1905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654A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06654A"/>
                </a:solidFill>
                <a:latin typeface="Arial"/>
                <a:ea typeface="Arial"/>
                <a:cs typeface="Arial"/>
                <a:sym typeface="Arial"/>
              </a:rPr>
              <a:t>Answer 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654A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06654A"/>
                </a:solidFill>
                <a:latin typeface="Arial"/>
                <a:ea typeface="Arial"/>
                <a:cs typeface="Arial"/>
                <a:sym typeface="Arial"/>
              </a:rPr>
              <a:t>citations</a:t>
            </a:r>
            <a:endParaRPr/>
          </a:p>
        </p:txBody>
      </p:sp>
      <p:cxnSp>
        <p:nvCxnSpPr>
          <p:cNvPr id="78" name="Google Shape;78;p5"/>
          <p:cNvCxnSpPr>
            <a:stCxn id="72" idx="3"/>
            <a:endCxn id="73" idx="1"/>
          </p:cNvCxnSpPr>
          <p:nvPr/>
        </p:nvCxnSpPr>
        <p:spPr>
          <a:xfrm>
            <a:off x="2066925" y="2390775"/>
            <a:ext cx="3906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9" name="Google Shape;79;p5"/>
          <p:cNvCxnSpPr>
            <a:stCxn id="73" idx="3"/>
            <a:endCxn id="74" idx="1"/>
          </p:cNvCxnSpPr>
          <p:nvPr/>
        </p:nvCxnSpPr>
        <p:spPr>
          <a:xfrm>
            <a:off x="3981450" y="2390775"/>
            <a:ext cx="3906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0" name="Google Shape;80;p5"/>
          <p:cNvCxnSpPr>
            <a:stCxn id="74" idx="3"/>
            <a:endCxn id="75" idx="1"/>
          </p:cNvCxnSpPr>
          <p:nvPr/>
        </p:nvCxnSpPr>
        <p:spPr>
          <a:xfrm>
            <a:off x="5800725" y="2390775"/>
            <a:ext cx="3906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1" name="Google Shape;81;p5"/>
          <p:cNvCxnSpPr>
            <a:stCxn id="75" idx="3"/>
            <a:endCxn id="76" idx="1"/>
          </p:cNvCxnSpPr>
          <p:nvPr/>
        </p:nvCxnSpPr>
        <p:spPr>
          <a:xfrm>
            <a:off x="7858125" y="2390775"/>
            <a:ext cx="3906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82" name="Google Shape;82;p5"/>
          <p:cNvCxnSpPr>
            <a:stCxn id="76" idx="3"/>
            <a:endCxn id="77" idx="1"/>
          </p:cNvCxnSpPr>
          <p:nvPr/>
        </p:nvCxnSpPr>
        <p:spPr>
          <a:xfrm>
            <a:off x="9772650" y="2390775"/>
            <a:ext cx="3906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3" name="Google Shape;83;p5"/>
          <p:cNvSpPr/>
          <p:nvPr/>
        </p:nvSpPr>
        <p:spPr>
          <a:xfrm>
            <a:off x="2457450" y="29241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GPT-5.4 nano</a:t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4324350" y="295275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GPT-5.4 nano</a:t>
            </a:r>
            <a:endParaRPr/>
          </a:p>
        </p:txBody>
      </p:sp>
      <p:sp>
        <p:nvSpPr>
          <p:cNvPr id="85" name="Google Shape;85;p5"/>
          <p:cNvSpPr/>
          <p:nvPr/>
        </p:nvSpPr>
        <p:spPr>
          <a:xfrm>
            <a:off x="6086475" y="3009900"/>
            <a:ext cx="1924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E91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163E91"/>
                </a:solidFill>
                <a:latin typeface="Arial"/>
                <a:ea typeface="Arial"/>
                <a:cs typeface="Arial"/>
                <a:sym typeface="Arial"/>
              </a:rPr>
              <a:t>Pydantic AI · GPT-5.4</a:t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248800" y="2924175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GPT-5.4 nano</a:t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2343150" y="3457575"/>
            <a:ext cx="1752600" cy="51435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19050">
            <a:solidFill>
              <a:srgbClr val="A7B4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Request rephrasing</a:t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4210050" y="3457575"/>
            <a:ext cx="1752600" cy="514350"/>
          </a:xfrm>
          <a:prstGeom prst="roundRect">
            <a:avLst>
              <a:gd fmla="val 22222" name="adj"/>
            </a:avLst>
          </a:prstGeom>
          <a:solidFill>
            <a:srgbClr val="FFFFFF"/>
          </a:solidFill>
          <a:ln cap="flat" cmpd="sng" w="19050">
            <a:solidFill>
              <a:srgbClr val="A7B4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Guardrail response</a:t>
            </a:r>
            <a:endParaRPr/>
          </a:p>
        </p:txBody>
      </p:sp>
      <p:cxnSp>
        <p:nvCxnSpPr>
          <p:cNvPr id="89" name="Google Shape;89;p5"/>
          <p:cNvCxnSpPr>
            <a:stCxn id="73" idx="2"/>
            <a:endCxn id="87" idx="0"/>
          </p:cNvCxnSpPr>
          <p:nvPr/>
        </p:nvCxnSpPr>
        <p:spPr>
          <a:xfrm>
            <a:off x="3219450" y="2895600"/>
            <a:ext cx="0" cy="56190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dash"/>
            <a:round/>
            <a:headEnd len="sm" w="sm" type="none"/>
            <a:tailEnd len="sm" w="sm" type="stealth"/>
          </a:ln>
        </p:spPr>
      </p:cxnSp>
      <p:cxnSp>
        <p:nvCxnSpPr>
          <p:cNvPr id="90" name="Google Shape;90;p5"/>
          <p:cNvCxnSpPr>
            <a:stCxn id="74" idx="2"/>
            <a:endCxn id="88" idx="0"/>
          </p:cNvCxnSpPr>
          <p:nvPr/>
        </p:nvCxnSpPr>
        <p:spPr>
          <a:xfrm>
            <a:off x="5086350" y="2895600"/>
            <a:ext cx="0" cy="561900"/>
          </a:xfrm>
          <a:prstGeom prst="straightConnector1">
            <a:avLst/>
          </a:prstGeom>
          <a:noFill/>
          <a:ln cap="flat" cmpd="sng" w="19050">
            <a:solidFill>
              <a:srgbClr val="94A3B8"/>
            </a:solidFill>
            <a:prstDash val="dash"/>
            <a:round/>
            <a:headEnd len="sm" w="sm" type="none"/>
            <a:tailEnd len="sm" w="sm" type="stealth"/>
          </a:ln>
        </p:spPr>
      </p:cxnSp>
      <p:sp>
        <p:nvSpPr>
          <p:cNvPr id="91" name="Google Shape;91;p5"/>
          <p:cNvSpPr/>
          <p:nvPr/>
        </p:nvSpPr>
        <p:spPr>
          <a:xfrm>
            <a:off x="2343150" y="3276600"/>
            <a:ext cx="988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on failure</a:t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4324350" y="3276600"/>
            <a:ext cx="833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0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if unsafe</a:t>
            </a:r>
            <a:endParaRPr/>
          </a:p>
        </p:txBody>
      </p:sp>
      <p:cxnSp>
        <p:nvCxnSpPr>
          <p:cNvPr id="93" name="Google Shape;93;p5"/>
          <p:cNvCxnSpPr/>
          <p:nvPr/>
        </p:nvCxnSpPr>
        <p:spPr>
          <a:xfrm>
            <a:off x="685800" y="4171950"/>
            <a:ext cx="51435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5"/>
          <p:cNvSpPr/>
          <p:nvPr/>
        </p:nvSpPr>
        <p:spPr>
          <a:xfrm>
            <a:off x="685800" y="4352925"/>
            <a:ext cx="3181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Conversation-aware</a:t>
            </a:r>
            <a:endParaRPr/>
          </a:p>
        </p:txBody>
      </p:sp>
      <p:sp>
        <p:nvSpPr>
          <p:cNvPr id="95" name="Google Shape;95;p5"/>
          <p:cNvSpPr/>
          <p:nvPr/>
        </p:nvSpPr>
        <p:spPr>
          <a:xfrm>
            <a:off x="685800" y="4953000"/>
            <a:ext cx="3181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Recent turns resolve references;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fresh evidence is retrieved for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every factual answer.</a:t>
            </a:r>
            <a:endParaRPr/>
          </a:p>
        </p:txBody>
      </p:sp>
      <p:cxnSp>
        <p:nvCxnSpPr>
          <p:cNvPr id="96" name="Google Shape;96;p5"/>
          <p:cNvCxnSpPr/>
          <p:nvPr/>
        </p:nvCxnSpPr>
        <p:spPr>
          <a:xfrm>
            <a:off x="4362450" y="4171950"/>
            <a:ext cx="51435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5"/>
          <p:cNvSpPr/>
          <p:nvPr/>
        </p:nvSpPr>
        <p:spPr>
          <a:xfrm>
            <a:off x="4362450" y="4352925"/>
            <a:ext cx="3181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Capability matched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 task</a:t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4362450" y="4953000"/>
            <a:ext cx="3181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Smaller models handle control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steps; GPT-5.4 plans searches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and synthesizes evidence.</a:t>
            </a:r>
            <a:endParaRPr/>
          </a:p>
        </p:txBody>
      </p:sp>
      <p:cxnSp>
        <p:nvCxnSpPr>
          <p:cNvPr id="99" name="Google Shape;99;p5"/>
          <p:cNvCxnSpPr/>
          <p:nvPr/>
        </p:nvCxnSpPr>
        <p:spPr>
          <a:xfrm>
            <a:off x="8039100" y="4171950"/>
            <a:ext cx="51435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0" name="Google Shape;100;p5"/>
          <p:cNvSpPr/>
          <p:nvPr/>
        </p:nvSpPr>
        <p:spPr>
          <a:xfrm>
            <a:off x="8039100" y="4352925"/>
            <a:ext cx="3467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Validation is explicit</a:t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8039100" y="4953000"/>
            <a:ext cx="34671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Two Boolean checks report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faithfulness and context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sufficiency separately.</a:t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685800" y="5943600"/>
            <a:ext cx="10820400" cy="533400"/>
          </a:xfrm>
          <a:prstGeom prst="roundRect">
            <a:avLst>
              <a:gd fmla="val 14286" name="adj"/>
            </a:avLst>
          </a:prstGeom>
          <a:solidFill>
            <a:srgbClr val="FFF6D8"/>
          </a:solidFill>
          <a:ln cap="flat" cmpd="sng" w="9525">
            <a:solidFill>
              <a:srgbClr val="E8CD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857250" y="6019800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624A10"/>
                </a:solidFill>
              </a:rPr>
              <a:t>Validation design</a:t>
            </a:r>
            <a:r>
              <a:rPr lang="en-US" sz="1500">
                <a:solidFill>
                  <a:srgbClr val="624A10"/>
                </a:solidFill>
              </a:rPr>
              <a:t> </a:t>
            </a:r>
            <a:r>
              <a:rPr lang="en-US" sz="1300">
                <a:solidFill>
                  <a:srgbClr val="624A10"/>
                </a:solidFill>
              </a:rPr>
              <a:t>Confidence scores can vary and drift; Boolean judgments provide clearer decisions, with reasoning.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/>
          <p:nvPr/>
        </p:nvSpPr>
        <p:spPr>
          <a:xfrm>
            <a:off x="685800" y="2857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8F65"/>
                </a:solidFill>
                <a:latin typeface="Arial"/>
                <a:ea typeface="Arial"/>
                <a:cs typeface="Arial"/>
                <a:sym typeface="Arial"/>
              </a:rPr>
              <a:t>LANGGRAPH ORCHESTRATION</a:t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685800" y="57150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LangGraph makes workflow state explicit</a:t>
            </a:r>
            <a:endParaRPr/>
          </a:p>
        </p:txBody>
      </p:sp>
      <p:cxnSp>
        <p:nvCxnSpPr>
          <p:cNvPr id="111" name="Google Shape;111;p6"/>
          <p:cNvCxnSpPr/>
          <p:nvPr/>
        </p:nvCxnSpPr>
        <p:spPr>
          <a:xfrm>
            <a:off x="685800" y="1123950"/>
            <a:ext cx="108204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6"/>
          <p:cNvSpPr/>
          <p:nvPr/>
        </p:nvSpPr>
        <p:spPr>
          <a:xfrm>
            <a:off x="11125200" y="6629400"/>
            <a:ext cx="38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>
            <a:off x="685800" y="1276350"/>
            <a:ext cx="619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Compiled application graph · </a:t>
            </a:r>
            <a:r>
              <a:rPr b="1" lang="en-US" sz="1350">
                <a:solidFill>
                  <a:srgbClr val="64748B"/>
                </a:solidFill>
              </a:rPr>
              <a:t>S</a:t>
            </a:r>
            <a:r>
              <a:rPr b="1" lang="en-US" sz="13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tate persisted by conversation ID</a:t>
            </a:r>
            <a:endParaRPr/>
          </a:p>
        </p:txBody>
      </p:sp>
      <p:cxnSp>
        <p:nvCxnSpPr>
          <p:cNvPr id="114" name="Google Shape;114;p6"/>
          <p:cNvCxnSpPr/>
          <p:nvPr/>
        </p:nvCxnSpPr>
        <p:spPr>
          <a:xfrm>
            <a:off x="7334250" y="1657350"/>
            <a:ext cx="51435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6"/>
          <p:cNvSpPr/>
          <p:nvPr/>
        </p:nvSpPr>
        <p:spPr>
          <a:xfrm>
            <a:off x="7334250" y="1809750"/>
            <a:ext cx="4171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Explicit control flow</a:t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7334250" y="2247900"/>
            <a:ext cx="41719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Compiled branches expose success,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guardrail, and failure paths for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inspection and testing.</a:t>
            </a:r>
            <a:endParaRPr/>
          </a:p>
        </p:txBody>
      </p:sp>
      <p:cxnSp>
        <p:nvCxnSpPr>
          <p:cNvPr id="117" name="Google Shape;117;p6"/>
          <p:cNvCxnSpPr/>
          <p:nvPr/>
        </p:nvCxnSpPr>
        <p:spPr>
          <a:xfrm>
            <a:off x="7334250" y="3048000"/>
            <a:ext cx="51435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6"/>
          <p:cNvSpPr/>
          <p:nvPr/>
        </p:nvSpPr>
        <p:spPr>
          <a:xfrm>
            <a:off x="7334250" y="3200400"/>
            <a:ext cx="4171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Checkpointed conversations</a:t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7334250" y="3638550"/>
            <a:ext cx="41719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SQLite persists state by conversation ID,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enabling contextual follow-ups across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requests and container restarts.</a:t>
            </a:r>
            <a:endParaRPr/>
          </a:p>
        </p:txBody>
      </p:sp>
      <p:cxnSp>
        <p:nvCxnSpPr>
          <p:cNvPr id="120" name="Google Shape;120;p6"/>
          <p:cNvCxnSpPr/>
          <p:nvPr/>
        </p:nvCxnSpPr>
        <p:spPr>
          <a:xfrm>
            <a:off x="7334250" y="4438650"/>
            <a:ext cx="51435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6"/>
          <p:cNvSpPr/>
          <p:nvPr/>
        </p:nvSpPr>
        <p:spPr>
          <a:xfrm>
            <a:off x="7334250" y="4591050"/>
            <a:ext cx="4171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Deliberate failure paths</a:t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7334250" y="5029200"/>
            <a:ext cx="41719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Ambiguous and unsafe queries exit through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defined responses instead of failing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silently or reaching generation.</a:t>
            </a:r>
            <a:endParaRPr/>
          </a:p>
        </p:txBody>
      </p:sp>
      <p:pic>
        <p:nvPicPr>
          <p:cNvPr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3670" y="1562100"/>
            <a:ext cx="5195510" cy="4191000"/>
          </a:xfrm>
          <a:prstGeom prst="roundRect">
            <a:avLst>
              <a:gd fmla="val 181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>
            <a:off x="685800" y="2857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8F65"/>
                </a:solidFill>
                <a:latin typeface="Arial"/>
                <a:ea typeface="Arial"/>
                <a:cs typeface="Arial"/>
                <a:sym typeface="Arial"/>
              </a:rPr>
              <a:t>AGENTIC RAG</a:t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685800" y="57150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Hybrid retrieval strengthens evidence</a:t>
            </a:r>
            <a:endParaRPr/>
          </a:p>
        </p:txBody>
      </p:sp>
      <p:cxnSp>
        <p:nvCxnSpPr>
          <p:cNvPr id="131" name="Google Shape;131;p7"/>
          <p:cNvCxnSpPr/>
          <p:nvPr/>
        </p:nvCxnSpPr>
        <p:spPr>
          <a:xfrm>
            <a:off x="685800" y="1123950"/>
            <a:ext cx="108204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7"/>
          <p:cNvSpPr/>
          <p:nvPr/>
        </p:nvSpPr>
        <p:spPr>
          <a:xfrm>
            <a:off x="11125200" y="6629400"/>
            <a:ext cx="38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685800" y="1914525"/>
            <a:ext cx="1428750" cy="876300"/>
          </a:xfrm>
          <a:prstGeom prst="roundRect">
            <a:avLst>
              <a:gd fmla="val 13043" name="adj"/>
            </a:avLst>
          </a:prstGeom>
          <a:solidFill>
            <a:srgbClr val="E8F0FF"/>
          </a:solidFill>
          <a:ln cap="flat" cmpd="sng" w="2857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E91"/>
              </a:buClr>
              <a:buSzPts val="1800"/>
              <a:buFont typeface="Arial"/>
              <a:buNone/>
            </a:pPr>
            <a:r>
              <a:rPr b="1" lang="en-US" sz="1800">
                <a:solidFill>
                  <a:srgbClr val="163E91"/>
                </a:solidFill>
                <a:latin typeface="Arial"/>
                <a:ea typeface="Arial"/>
                <a:cs typeface="Arial"/>
                <a:sym typeface="Arial"/>
              </a:rPr>
              <a:t>QA agent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2628900" y="1819275"/>
            <a:ext cx="1657350" cy="1066800"/>
          </a:xfrm>
          <a:prstGeom prst="roundRect">
            <a:avLst>
              <a:gd fmla="val 10714" name="adj"/>
            </a:avLst>
          </a:prstGeom>
          <a:solidFill>
            <a:srgbClr val="FFFFFF"/>
          </a:solidFill>
          <a:ln cap="flat" cmpd="sng" w="1905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Focused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50"/>
              <a:buFont typeface="Arial"/>
              <a:buNone/>
            </a:pPr>
            <a:r>
              <a:rPr b="1" lang="en-US" sz="16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search query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838700" y="1447800"/>
            <a:ext cx="1714500" cy="781050"/>
          </a:xfrm>
          <a:prstGeom prst="roundRect">
            <a:avLst>
              <a:gd fmla="val 14634" name="adj"/>
            </a:avLst>
          </a:prstGeom>
          <a:solidFill>
            <a:srgbClr val="E8F7F1"/>
          </a:solidFill>
          <a:ln cap="flat" cmpd="sng" w="1905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654A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06654A"/>
                </a:solidFill>
                <a:latin typeface="Arial"/>
                <a:ea typeface="Arial"/>
                <a:cs typeface="Arial"/>
                <a:sym typeface="Arial"/>
              </a:rPr>
              <a:t>Dense retrieval</a:t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838700" y="2590800"/>
            <a:ext cx="1714500" cy="781050"/>
          </a:xfrm>
          <a:prstGeom prst="roundRect">
            <a:avLst>
              <a:gd fmla="val 14634" name="adj"/>
            </a:avLst>
          </a:prstGeom>
          <a:solidFill>
            <a:srgbClr val="E8F7F1"/>
          </a:solidFill>
          <a:ln cap="flat" cmpd="sng" w="1905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654A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06654A"/>
                </a:solidFill>
                <a:latin typeface="Arial"/>
                <a:ea typeface="Arial"/>
                <a:cs typeface="Arial"/>
                <a:sym typeface="Arial"/>
              </a:rPr>
              <a:t>BM25 retrieval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7105650" y="1819275"/>
            <a:ext cx="1571625" cy="1066800"/>
          </a:xfrm>
          <a:prstGeom prst="roundRect">
            <a:avLst>
              <a:gd fmla="val 10714" name="adj"/>
            </a:avLst>
          </a:prstGeom>
          <a:solidFill>
            <a:srgbClr val="F0EBFF"/>
          </a:solidFill>
          <a:ln cap="flat" cmpd="sng" w="1905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Reciprocal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Rank Fusion</a:t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9229725" y="1819275"/>
            <a:ext cx="1619250" cy="1066800"/>
          </a:xfrm>
          <a:prstGeom prst="roundRect">
            <a:avLst>
              <a:gd fmla="val 10714" name="adj"/>
            </a:avLst>
          </a:prstGeom>
          <a:solidFill>
            <a:srgbClr val="F0EBFF"/>
          </a:solidFill>
          <a:ln cap="flat" cmpd="sng" w="1905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Cross</a:t>
            </a:r>
            <a:r>
              <a:rPr b="1" lang="en-US" sz="1575">
                <a:solidFill>
                  <a:srgbClr val="40258F"/>
                </a:solidFill>
              </a:rPr>
              <a:t> </a:t>
            </a:r>
            <a:r>
              <a:rPr b="1" lang="en-US" sz="1575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encoder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0258F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40258F"/>
                </a:solidFill>
                <a:latin typeface="Arial"/>
                <a:ea typeface="Arial"/>
                <a:cs typeface="Arial"/>
                <a:sym typeface="Arial"/>
              </a:rPr>
              <a:t>reranking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11144250" y="1914525"/>
            <a:ext cx="1047750" cy="876300"/>
          </a:xfrm>
          <a:prstGeom prst="roundRect">
            <a:avLst>
              <a:gd fmla="val 13043" name="adj"/>
            </a:avLst>
          </a:prstGeom>
          <a:solidFill>
            <a:srgbClr val="E8F0FF"/>
          </a:solidFill>
          <a:ln cap="flat" cmpd="sng" w="1905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E91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3E91"/>
                </a:solidFill>
                <a:latin typeface="Arial"/>
                <a:ea typeface="Arial"/>
                <a:cs typeface="Arial"/>
                <a:sym typeface="Arial"/>
              </a:rPr>
              <a:t>Top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E91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163E91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/>
          </a:p>
        </p:txBody>
      </p:sp>
      <p:cxnSp>
        <p:nvCxnSpPr>
          <p:cNvPr id="140" name="Google Shape;140;p7"/>
          <p:cNvCxnSpPr>
            <a:stCxn id="133" idx="3"/>
            <a:endCxn id="134" idx="1"/>
          </p:cNvCxnSpPr>
          <p:nvPr/>
        </p:nvCxnSpPr>
        <p:spPr>
          <a:xfrm>
            <a:off x="2114550" y="2352675"/>
            <a:ext cx="514500" cy="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41" name="Google Shape;141;p7"/>
          <p:cNvCxnSpPr>
            <a:stCxn id="134" idx="3"/>
            <a:endCxn id="135" idx="1"/>
          </p:cNvCxnSpPr>
          <p:nvPr/>
        </p:nvCxnSpPr>
        <p:spPr>
          <a:xfrm flipH="1" rot="10800000">
            <a:off x="4286250" y="1838175"/>
            <a:ext cx="552600" cy="514500"/>
          </a:xfrm>
          <a:prstGeom prst="bentConnector3">
            <a:avLst>
              <a:gd fmla="val 41368" name="adj1"/>
            </a:avLst>
          </a:prstGeom>
          <a:noFill/>
          <a:ln cap="flat" cmpd="sng" w="19050">
            <a:solidFill>
              <a:srgbClr val="0A8F65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42" name="Google Shape;142;p7"/>
          <p:cNvCxnSpPr>
            <a:stCxn id="134" idx="3"/>
            <a:endCxn id="136" idx="1"/>
          </p:cNvCxnSpPr>
          <p:nvPr/>
        </p:nvCxnSpPr>
        <p:spPr>
          <a:xfrm>
            <a:off x="4286250" y="2352675"/>
            <a:ext cx="552600" cy="628800"/>
          </a:xfrm>
          <a:prstGeom prst="bentConnector3">
            <a:avLst>
              <a:gd fmla="val 41368" name="adj1"/>
            </a:avLst>
          </a:prstGeom>
          <a:noFill/>
          <a:ln cap="flat" cmpd="sng" w="19050">
            <a:solidFill>
              <a:srgbClr val="0A8F65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43" name="Google Shape;143;p7"/>
          <p:cNvCxnSpPr>
            <a:stCxn id="135" idx="3"/>
            <a:endCxn id="137" idx="1"/>
          </p:cNvCxnSpPr>
          <p:nvPr/>
        </p:nvCxnSpPr>
        <p:spPr>
          <a:xfrm>
            <a:off x="6553200" y="1838325"/>
            <a:ext cx="552600" cy="514500"/>
          </a:xfrm>
          <a:prstGeom prst="bentConnector3">
            <a:avLst>
              <a:gd fmla="val 58605" name="adj1"/>
            </a:avLst>
          </a:prstGeom>
          <a:noFill/>
          <a:ln cap="flat" cmpd="sng" w="19050">
            <a:solidFill>
              <a:srgbClr val="0A8F65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44" name="Google Shape;144;p7"/>
          <p:cNvCxnSpPr>
            <a:stCxn id="136" idx="3"/>
            <a:endCxn id="137" idx="1"/>
          </p:cNvCxnSpPr>
          <p:nvPr/>
        </p:nvCxnSpPr>
        <p:spPr>
          <a:xfrm flipH="1" rot="10800000">
            <a:off x="6553200" y="2352825"/>
            <a:ext cx="552600" cy="628500"/>
          </a:xfrm>
          <a:prstGeom prst="bentConnector3">
            <a:avLst>
              <a:gd fmla="val 58605" name="adj1"/>
            </a:avLst>
          </a:prstGeom>
          <a:noFill/>
          <a:ln cap="flat" cmpd="sng" w="19050">
            <a:solidFill>
              <a:srgbClr val="0A8F65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45" name="Google Shape;145;p7"/>
          <p:cNvCxnSpPr>
            <a:stCxn id="137" idx="3"/>
            <a:endCxn id="138" idx="1"/>
          </p:cNvCxnSpPr>
          <p:nvPr/>
        </p:nvCxnSpPr>
        <p:spPr>
          <a:xfrm>
            <a:off x="8677275" y="2352675"/>
            <a:ext cx="552600" cy="0"/>
          </a:xfrm>
          <a:prstGeom prst="straightConnector1">
            <a:avLst/>
          </a:prstGeom>
          <a:noFill/>
          <a:ln cap="flat" cmpd="sng" w="19050">
            <a:solidFill>
              <a:srgbClr val="6D3DE7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146" name="Google Shape;146;p7"/>
          <p:cNvCxnSpPr>
            <a:stCxn id="138" idx="3"/>
            <a:endCxn id="139" idx="1"/>
          </p:cNvCxnSpPr>
          <p:nvPr/>
        </p:nvCxnSpPr>
        <p:spPr>
          <a:xfrm>
            <a:off x="10848975" y="2352675"/>
            <a:ext cx="295200" cy="0"/>
          </a:xfrm>
          <a:prstGeom prst="straightConnector1">
            <a:avLst/>
          </a:prstGeom>
          <a:noFill/>
          <a:ln cap="flat" cmpd="sng" w="19050">
            <a:solidFill>
              <a:srgbClr val="6D3DE7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147" name="Google Shape;147;p7"/>
          <p:cNvSpPr/>
          <p:nvPr/>
        </p:nvSpPr>
        <p:spPr>
          <a:xfrm>
            <a:off x="514350" y="2962275"/>
            <a:ext cx="1771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3E91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163E91"/>
                </a:solidFill>
                <a:latin typeface="Arial"/>
                <a:ea typeface="Arial"/>
                <a:cs typeface="Arial"/>
                <a:sym typeface="Arial"/>
              </a:rPr>
              <a:t>Pydantic AI · GPT-5.4</a:t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4676775" y="1266975"/>
            <a:ext cx="2133600" cy="209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ChromaDB vector similarity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406775" y="3371850"/>
            <a:ext cx="2673600" cy="209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Exact terms · names · identifiers</a:t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9220200" y="295275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mmarco-mMiniLMv2</a:t>
            </a:r>
            <a:endParaRPr/>
          </a:p>
        </p:txBody>
      </p:sp>
      <p:cxnSp>
        <p:nvCxnSpPr>
          <p:cNvPr id="151" name="Google Shape;151;p7"/>
          <p:cNvCxnSpPr/>
          <p:nvPr/>
        </p:nvCxnSpPr>
        <p:spPr>
          <a:xfrm>
            <a:off x="685800" y="3676650"/>
            <a:ext cx="51435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2" name="Google Shape;152;p7"/>
          <p:cNvSpPr/>
          <p:nvPr/>
        </p:nvSpPr>
        <p:spPr>
          <a:xfrm>
            <a:off x="685800" y="3857625"/>
            <a:ext cx="3181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Semantic recall</a:t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85800" y="4457700"/>
            <a:ext cx="3181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Dense retrieval finds related passages across paraphrases and languages, even when wording differs.</a:t>
            </a:r>
            <a:endParaRPr/>
          </a:p>
        </p:txBody>
      </p:sp>
      <p:cxnSp>
        <p:nvCxnSpPr>
          <p:cNvPr id="154" name="Google Shape;154;p7"/>
          <p:cNvCxnSpPr/>
          <p:nvPr/>
        </p:nvCxnSpPr>
        <p:spPr>
          <a:xfrm>
            <a:off x="4362450" y="3676650"/>
            <a:ext cx="51435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7"/>
          <p:cNvSpPr/>
          <p:nvPr/>
        </p:nvSpPr>
        <p:spPr>
          <a:xfrm>
            <a:off x="4362450" y="3857625"/>
            <a:ext cx="3181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Exact-match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coverage</a:t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4362450" y="4457700"/>
            <a:ext cx="3181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BM25 retains specialist terms, names, and identifiers that semantic similarity can underweight.</a:t>
            </a:r>
            <a:endParaRPr/>
          </a:p>
        </p:txBody>
      </p:sp>
      <p:cxnSp>
        <p:nvCxnSpPr>
          <p:cNvPr id="157" name="Google Shape;157;p7"/>
          <p:cNvCxnSpPr/>
          <p:nvPr/>
        </p:nvCxnSpPr>
        <p:spPr>
          <a:xfrm>
            <a:off x="8039100" y="3676650"/>
            <a:ext cx="51435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039100" y="3857625"/>
            <a:ext cx="34671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Evidence-level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ranking</a:t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8039100" y="4457700"/>
            <a:ext cx="34671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Fusion combines rank signals; the cross-encoder then scores each query–passage pair jointly.</a:t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85800" y="5943600"/>
            <a:ext cx="10820400" cy="533400"/>
          </a:xfrm>
          <a:prstGeom prst="roundRect">
            <a:avLst>
              <a:gd fmla="val 14286" name="adj"/>
            </a:avLst>
          </a:prstGeom>
          <a:solidFill>
            <a:srgbClr val="FFF6D8"/>
          </a:solidFill>
          <a:ln cap="flat" cmpd="sng" w="9525">
            <a:solidFill>
              <a:srgbClr val="E8CD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857250" y="6019800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500">
                <a:solidFill>
                  <a:srgbClr val="624A10"/>
                </a:solidFill>
              </a:rPr>
              <a:t>Agentic retrieval</a:t>
            </a:r>
            <a:r>
              <a:rPr lang="en-US" sz="1500">
                <a:solidFill>
                  <a:srgbClr val="624A10"/>
                </a:solidFill>
              </a:rPr>
              <a:t> </a:t>
            </a:r>
            <a:r>
              <a:rPr lang="en-US" sz="1300">
                <a:solidFill>
                  <a:srgbClr val="624A10"/>
                </a:solidFill>
              </a:rPr>
              <a:t>The agent formulates focused search queries, evaluates the evidence, and retrieves again when the result is insufficient.</a:t>
            </a:r>
            <a:endParaRPr b="1" sz="1500">
              <a:solidFill>
                <a:srgbClr val="624A1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"/>
          <p:cNvSpPr/>
          <p:nvPr/>
        </p:nvSpPr>
        <p:spPr>
          <a:xfrm>
            <a:off x="685800" y="285750"/>
            <a:ext cx="295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8F65"/>
                </a:solidFill>
                <a:latin typeface="Arial"/>
                <a:ea typeface="Arial"/>
                <a:cs typeface="Arial"/>
                <a:sym typeface="Arial"/>
              </a:rPr>
              <a:t>EXAMPLE RESPONSE</a:t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685800" y="571500"/>
            <a:ext cx="10820400" cy="552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A question returns a cited, validated answer</a:t>
            </a:r>
            <a:endParaRPr/>
          </a:p>
        </p:txBody>
      </p:sp>
      <p:cxnSp>
        <p:nvCxnSpPr>
          <p:cNvPr id="169" name="Google Shape;169;p8"/>
          <p:cNvCxnSpPr/>
          <p:nvPr/>
        </p:nvCxnSpPr>
        <p:spPr>
          <a:xfrm>
            <a:off x="685800" y="1123950"/>
            <a:ext cx="108204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" name="Google Shape;170;p8"/>
          <p:cNvSpPr/>
          <p:nvPr/>
        </p:nvSpPr>
        <p:spPr>
          <a:xfrm>
            <a:off x="11125200" y="6629400"/>
            <a:ext cx="38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685800" y="1304925"/>
            <a:ext cx="2286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8F65"/>
                </a:solidFill>
                <a:latin typeface="Arial"/>
                <a:ea typeface="Arial"/>
                <a:cs typeface="Arial"/>
                <a:sym typeface="Arial"/>
              </a:rPr>
              <a:t>REQUEST</a:t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685800" y="27241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8F65"/>
                </a:solidFill>
                <a:latin typeface="Arial"/>
                <a:ea typeface="Arial"/>
                <a:cs typeface="Arial"/>
                <a:sym typeface="Arial"/>
              </a:rPr>
              <a:t>GROUNDED RESPONSE</a:t>
            </a:r>
            <a:endParaRPr/>
          </a:p>
        </p:txBody>
      </p:sp>
      <p:cxnSp>
        <p:nvCxnSpPr>
          <p:cNvPr id="173" name="Google Shape;173;p8"/>
          <p:cNvCxnSpPr/>
          <p:nvPr/>
        </p:nvCxnSpPr>
        <p:spPr>
          <a:xfrm>
            <a:off x="685800" y="5067300"/>
            <a:ext cx="5145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8"/>
          <p:cNvSpPr/>
          <p:nvPr/>
        </p:nvSpPr>
        <p:spPr>
          <a:xfrm>
            <a:off x="685800" y="5219700"/>
            <a:ext cx="3181200" cy="362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Cross-lingual</a:t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685800" y="5619750"/>
            <a:ext cx="31812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English query → German evidence</a:t>
            </a:r>
            <a:endParaRPr/>
          </a:p>
        </p:txBody>
      </p:sp>
      <p:cxnSp>
        <p:nvCxnSpPr>
          <p:cNvPr id="176" name="Google Shape;176;p8"/>
          <p:cNvCxnSpPr/>
          <p:nvPr/>
        </p:nvCxnSpPr>
        <p:spPr>
          <a:xfrm>
            <a:off x="4362450" y="5067300"/>
            <a:ext cx="5145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7" name="Google Shape;177;p8"/>
          <p:cNvSpPr/>
          <p:nvPr/>
        </p:nvSpPr>
        <p:spPr>
          <a:xfrm>
            <a:off x="4362450" y="5219700"/>
            <a:ext cx="3181200" cy="362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Traceable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362450" y="5619750"/>
            <a:ext cx="31812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Source PDF and page number</a:t>
            </a:r>
            <a:endParaRPr/>
          </a:p>
        </p:txBody>
      </p:sp>
      <p:cxnSp>
        <p:nvCxnSpPr>
          <p:cNvPr id="179" name="Google Shape;179;p8"/>
          <p:cNvCxnSpPr/>
          <p:nvPr/>
        </p:nvCxnSpPr>
        <p:spPr>
          <a:xfrm>
            <a:off x="8039100" y="5067300"/>
            <a:ext cx="5145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0" name="Google Shape;180;p8"/>
          <p:cNvSpPr/>
          <p:nvPr/>
        </p:nvSpPr>
        <p:spPr>
          <a:xfrm>
            <a:off x="8039100" y="5219700"/>
            <a:ext cx="3467100" cy="362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Validated</a:t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8039100" y="5619750"/>
            <a:ext cx="34671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50"/>
              <a:buFont typeface="Arial"/>
              <a:buNone/>
            </a:pPr>
            <a:r>
              <a:rPr b="0" lang="en-US" sz="13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Faithfulness + context sufficiency</a:t>
            </a:r>
            <a:endParaRPr/>
          </a:p>
        </p:txBody>
      </p:sp>
      <p:pic>
        <p:nvPicPr>
          <p:cNvPr id="182" name="Google Shape;1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92" y="1552575"/>
            <a:ext cx="4941900" cy="962100"/>
          </a:xfrm>
          <a:prstGeom prst="roundRect">
            <a:avLst>
              <a:gd fmla="val 7921" name="adj"/>
            </a:avLst>
          </a:prstGeom>
          <a:noFill/>
          <a:ln>
            <a:noFill/>
          </a:ln>
        </p:spPr>
      </p:pic>
      <p:pic>
        <p:nvPicPr>
          <p:cNvPr id="183" name="Google Shape;183;p8" title="example outpu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800" y="3057425"/>
            <a:ext cx="10114624" cy="190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8"/>
          <p:cNvSpPr/>
          <p:nvPr/>
        </p:nvSpPr>
        <p:spPr>
          <a:xfrm>
            <a:off x="685800" y="5943600"/>
            <a:ext cx="10820400" cy="533400"/>
          </a:xfrm>
          <a:prstGeom prst="roundRect">
            <a:avLst>
              <a:gd fmla="val 14286" name="adj"/>
            </a:avLst>
          </a:prstGeom>
          <a:solidFill>
            <a:srgbClr val="EAF3FF"/>
          </a:solidFill>
          <a:ln cap="flat" cmpd="sng" w="9525">
            <a:solidFill>
              <a:srgbClr val="B8D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857250" y="6019800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E8C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1E4E8C"/>
                </a:solidFill>
              </a:rPr>
              <a:t>Screenshots taken in Swagger UI API documentation generated by FastAPI.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/>
          <p:nvPr/>
        </p:nvSpPr>
        <p:spPr>
          <a:xfrm>
            <a:off x="685800" y="285750"/>
            <a:ext cx="295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8F65"/>
                </a:solidFill>
                <a:latin typeface="Arial"/>
                <a:ea typeface="Arial"/>
                <a:cs typeface="Arial"/>
                <a:sym typeface="Arial"/>
              </a:rPr>
              <a:t>TRACE-LEVEL OBSERVABILITY</a:t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685800" y="571500"/>
            <a:ext cx="10820400" cy="552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Every step is inspectable</a:t>
            </a:r>
            <a:endParaRPr/>
          </a:p>
        </p:txBody>
      </p:sp>
      <p:cxnSp>
        <p:nvCxnSpPr>
          <p:cNvPr id="193" name="Google Shape;193;p9"/>
          <p:cNvCxnSpPr/>
          <p:nvPr/>
        </p:nvCxnSpPr>
        <p:spPr>
          <a:xfrm>
            <a:off x="685800" y="1123950"/>
            <a:ext cx="108204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9"/>
          <p:cNvSpPr/>
          <p:nvPr/>
        </p:nvSpPr>
        <p:spPr>
          <a:xfrm>
            <a:off x="11125200" y="6629400"/>
            <a:ext cx="38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685800" y="5943600"/>
            <a:ext cx="10820400" cy="533400"/>
          </a:xfrm>
          <a:prstGeom prst="roundRect">
            <a:avLst>
              <a:gd fmla="val 14286" name="adj"/>
            </a:avLst>
          </a:prstGeom>
          <a:solidFill>
            <a:srgbClr val="EAF3FF"/>
          </a:solidFill>
          <a:ln cap="flat" cmpd="sng" w="9525">
            <a:solidFill>
              <a:srgbClr val="B8D3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857250" y="6019800"/>
            <a:ext cx="10477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4E8C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1E4E8C"/>
                </a:solidFill>
                <a:latin typeface="Arial"/>
                <a:ea typeface="Arial"/>
                <a:cs typeface="Arial"/>
                <a:sym typeface="Arial"/>
              </a:rPr>
              <a:t>One view links the execution tree to each step’s input, output, latency, and cost.</a:t>
            </a:r>
            <a:endParaRPr/>
          </a:p>
        </p:txBody>
      </p:sp>
      <p:pic>
        <p:nvPicPr>
          <p:cNvPr id="197" name="Google Shape;197;p9" title="langfuse - trace.png"/>
          <p:cNvPicPr preferRelativeResize="0"/>
          <p:nvPr/>
        </p:nvPicPr>
        <p:blipFill rotWithShape="1">
          <a:blip r:embed="rId3">
            <a:alphaModFix/>
          </a:blip>
          <a:srcRect b="41287" l="0" r="0" t="0"/>
          <a:stretch/>
        </p:blipFill>
        <p:spPr>
          <a:xfrm>
            <a:off x="213400" y="1312475"/>
            <a:ext cx="11765202" cy="4233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685800" y="285750"/>
            <a:ext cx="295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8F65"/>
                </a:solidFill>
                <a:latin typeface="Arial"/>
                <a:ea typeface="Arial"/>
                <a:cs typeface="Arial"/>
                <a:sym typeface="Arial"/>
              </a:rPr>
              <a:t>OPERATIONAL MONITORING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685800" y="571500"/>
            <a:ext cx="10820400" cy="552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Monitor</a:t>
            </a:r>
            <a:r>
              <a:rPr b="1" lang="en-US" sz="3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 latency, cost, and quality signals</a:t>
            </a:r>
            <a:endParaRPr/>
          </a:p>
        </p:txBody>
      </p:sp>
      <p:cxnSp>
        <p:nvCxnSpPr>
          <p:cNvPr id="205" name="Google Shape;205;p10"/>
          <p:cNvCxnSpPr/>
          <p:nvPr/>
        </p:nvCxnSpPr>
        <p:spPr>
          <a:xfrm>
            <a:off x="685800" y="1123950"/>
            <a:ext cx="108204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6" name="Google Shape;206;p10"/>
          <p:cNvSpPr/>
          <p:nvPr/>
        </p:nvSpPr>
        <p:spPr>
          <a:xfrm>
            <a:off x="11125200" y="6629400"/>
            <a:ext cx="38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cxnSp>
        <p:nvCxnSpPr>
          <p:cNvPr id="207" name="Google Shape;207;p10"/>
          <p:cNvCxnSpPr/>
          <p:nvPr/>
        </p:nvCxnSpPr>
        <p:spPr>
          <a:xfrm>
            <a:off x="685800" y="4457700"/>
            <a:ext cx="5145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8" name="Google Shape;208;p10"/>
          <p:cNvSpPr/>
          <p:nvPr/>
        </p:nvSpPr>
        <p:spPr>
          <a:xfrm>
            <a:off x="685800" y="4610100"/>
            <a:ext cx="3181200" cy="362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Latency</a:t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685800" y="5010150"/>
            <a:ext cx="31812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p50–p99 by workflow step reveals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bottlenecks and tail behavior.</a:t>
            </a:r>
            <a:endParaRPr/>
          </a:p>
        </p:txBody>
      </p:sp>
      <p:cxnSp>
        <p:nvCxnSpPr>
          <p:cNvPr id="210" name="Google Shape;210;p10"/>
          <p:cNvCxnSpPr/>
          <p:nvPr/>
        </p:nvCxnSpPr>
        <p:spPr>
          <a:xfrm>
            <a:off x="4362450" y="4457700"/>
            <a:ext cx="5145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1" name="Google Shape;211;p10"/>
          <p:cNvSpPr/>
          <p:nvPr/>
        </p:nvSpPr>
        <p:spPr>
          <a:xfrm>
            <a:off x="4362450" y="4610100"/>
            <a:ext cx="3181200" cy="362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Cost</a:t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4362450" y="5010150"/>
            <a:ext cx="31812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Token and USD spend by model shows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where budget is consumed.</a:t>
            </a:r>
            <a:endParaRPr/>
          </a:p>
        </p:txBody>
      </p:sp>
      <p:cxnSp>
        <p:nvCxnSpPr>
          <p:cNvPr id="213" name="Google Shape;213;p10"/>
          <p:cNvCxnSpPr/>
          <p:nvPr/>
        </p:nvCxnSpPr>
        <p:spPr>
          <a:xfrm>
            <a:off x="8039100" y="4457700"/>
            <a:ext cx="5145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10"/>
          <p:cNvSpPr/>
          <p:nvPr/>
        </p:nvSpPr>
        <p:spPr>
          <a:xfrm>
            <a:off x="8039100" y="4610100"/>
            <a:ext cx="3467100" cy="362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Quality</a:t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8039100" y="5010150"/>
            <a:ext cx="34671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Faithfulness and context sufficiency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25"/>
              <a:buFont typeface="Arial"/>
              <a:buNone/>
            </a:pPr>
            <a:r>
              <a:rPr b="0" lang="en-US" sz="14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make regressions measurable.</a:t>
            </a:r>
            <a:endParaRPr/>
          </a:p>
        </p:txBody>
      </p:sp>
      <p:pic>
        <p:nvPicPr>
          <p:cNvPr id="216" name="Google Shape;2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488422"/>
            <a:ext cx="3181200" cy="27381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pic>
        <p:nvPicPr>
          <p:cNvPr id="217" name="Google Shape;2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62450" y="1499979"/>
            <a:ext cx="3181200" cy="27150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  <p:pic>
        <p:nvPicPr>
          <p:cNvPr id="218" name="Google Shape;21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4566" y="1428750"/>
            <a:ext cx="3316200" cy="2857500"/>
          </a:xfrm>
          <a:prstGeom prst="roundRect">
            <a:avLst>
              <a:gd fmla="val 2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"/>
          <p:cNvSpPr/>
          <p:nvPr/>
        </p:nvSpPr>
        <p:spPr>
          <a:xfrm>
            <a:off x="685800" y="285750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8F65"/>
                </a:solidFill>
                <a:latin typeface="Arial"/>
                <a:ea typeface="Arial"/>
                <a:cs typeface="Arial"/>
                <a:sym typeface="Arial"/>
              </a:rPr>
              <a:t>ENGINEERING </a:t>
            </a:r>
            <a:r>
              <a:rPr b="1" lang="en-US" sz="1200">
                <a:solidFill>
                  <a:srgbClr val="0A8F65"/>
                </a:solidFill>
              </a:rPr>
              <a:t>JUDGEMENT</a:t>
            </a:r>
            <a:endParaRPr/>
          </a:p>
        </p:txBody>
      </p:sp>
      <p:sp>
        <p:nvSpPr>
          <p:cNvPr id="225" name="Google Shape;225;p11"/>
          <p:cNvSpPr/>
          <p:nvPr/>
        </p:nvSpPr>
        <p:spPr>
          <a:xfrm>
            <a:off x="685800" y="571500"/>
            <a:ext cx="108204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Grounded answers over unsupported confidence</a:t>
            </a:r>
            <a:endParaRPr/>
          </a:p>
        </p:txBody>
      </p:sp>
      <p:cxnSp>
        <p:nvCxnSpPr>
          <p:cNvPr id="226" name="Google Shape;226;p11"/>
          <p:cNvCxnSpPr/>
          <p:nvPr/>
        </p:nvCxnSpPr>
        <p:spPr>
          <a:xfrm>
            <a:off x="685800" y="1123950"/>
            <a:ext cx="108204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11"/>
          <p:cNvSpPr/>
          <p:nvPr/>
        </p:nvSpPr>
        <p:spPr>
          <a:xfrm>
            <a:off x="11125200" y="6629400"/>
            <a:ext cx="38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685800" y="1295400"/>
            <a:ext cx="10477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50"/>
              <a:buFont typeface="Arial"/>
              <a:buNone/>
            </a:pPr>
            <a:r>
              <a:rPr b="0" lang="en-US" sz="16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Each added component must improve traceability, evidence selection, or transparent failure handling.</a:t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685800" y="1866900"/>
            <a:ext cx="2857500" cy="457200"/>
          </a:xfrm>
          <a:prstGeom prst="roundRect">
            <a:avLst>
              <a:gd fmla="val 0" name="adj"/>
            </a:avLst>
          </a:prstGeom>
          <a:solidFill>
            <a:srgbClr val="06654A"/>
          </a:solidFill>
          <a:ln cap="flat" cmpd="sng" w="9525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152400" spcFirstLastPara="1" rIns="114300" wrap="square" tIns="5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 DECISION</a:t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3543300" y="1866900"/>
            <a:ext cx="4095750" cy="457200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152400" spcFirstLastPara="1" rIns="114300" wrap="square" tIns="5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IMPROVES</a:t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7639050" y="1866900"/>
            <a:ext cx="3867150" cy="457200"/>
          </a:xfrm>
          <a:prstGeom prst="roundRect">
            <a:avLst>
              <a:gd fmla="val 0" name="adj"/>
            </a:avLst>
          </a:prstGeom>
          <a:solidFill>
            <a:srgbClr val="0F172A"/>
          </a:solidFill>
          <a:ln cap="flat" cmpd="sng" w="9525">
            <a:solidFill>
              <a:srgbClr val="F8FA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7150" lIns="152400" spcFirstLastPara="1" rIns="114300" wrap="square" tIns="571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Arial"/>
              <a:buNone/>
            </a:pPr>
            <a:r>
              <a:rPr b="1" lang="en-US" sz="1275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TRADEOFF / FAILURE MODE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685800" y="2324100"/>
            <a:ext cx="2857500" cy="9144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228600" spcFirstLastPara="1" rIns="1524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Page-aware, header-aware chunks</a:t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752475" y="2447925"/>
            <a:ext cx="57150" cy="666750"/>
          </a:xfrm>
          <a:prstGeom prst="roundRect">
            <a:avLst>
              <a:gd fmla="val 50000" name="adj"/>
            </a:avLst>
          </a:prstGeom>
          <a:solidFill>
            <a:srgbClr val="0A8F65"/>
          </a:solidFill>
          <a:ln cap="flat" cmpd="sng" w="9525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"/>
          <p:cNvSpPr/>
          <p:nvPr/>
        </p:nvSpPr>
        <p:spPr>
          <a:xfrm>
            <a:off x="3543300" y="2324100"/>
            <a:ext cx="4095750" cy="9144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52400" spcFirstLastPara="1" rIns="1524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Reliable page citations and coherent section context</a:t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7639050" y="2324100"/>
            <a:ext cx="3867150" cy="9144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52400" spcFirstLastPara="1" rIns="1524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Cross-page context can be separated; chunk sizes vary</a:t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685800" y="3238500"/>
            <a:ext cx="2857500" cy="914400"/>
          </a:xfrm>
          <a:prstGeom prst="roundRect">
            <a:avLst>
              <a:gd fmla="val 0" name="adj"/>
            </a:avLst>
          </a:prstGeom>
          <a:solidFill>
            <a:srgbClr val="F2F6F9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228600" spcFirstLastPara="1" rIns="1524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Hybrid retrieval + reranking</a:t>
            </a: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52475" y="3362325"/>
            <a:ext cx="57150" cy="666750"/>
          </a:xfrm>
          <a:prstGeom prst="roundRect">
            <a:avLst>
              <a:gd fmla="val 50000" name="adj"/>
            </a:avLst>
          </a:prstGeom>
          <a:solidFill>
            <a:srgbClr val="6D3DE7"/>
          </a:solidFill>
          <a:ln cap="flat" cmpd="sng" w="9525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1"/>
          <p:cNvSpPr/>
          <p:nvPr/>
        </p:nvSpPr>
        <p:spPr>
          <a:xfrm>
            <a:off x="3543300" y="3238500"/>
            <a:ext cx="4095750" cy="914400"/>
          </a:xfrm>
          <a:prstGeom prst="roundRect">
            <a:avLst>
              <a:gd fmla="val 0" name="adj"/>
            </a:avLst>
          </a:prstGeom>
          <a:solidFill>
            <a:srgbClr val="F2F6F9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52400" spcFirstLastPara="1" rIns="1524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Semantic recall, exact terminology, and stronger final ranking</a:t>
            </a:r>
            <a:endParaRPr/>
          </a:p>
        </p:txBody>
      </p:sp>
      <p:sp>
        <p:nvSpPr>
          <p:cNvPr id="239" name="Google Shape;239;p11"/>
          <p:cNvSpPr/>
          <p:nvPr/>
        </p:nvSpPr>
        <p:spPr>
          <a:xfrm>
            <a:off x="7639050" y="3238500"/>
            <a:ext cx="3867150" cy="914400"/>
          </a:xfrm>
          <a:prstGeom prst="roundRect">
            <a:avLst>
              <a:gd fmla="val 0" name="adj"/>
            </a:avLst>
          </a:prstGeom>
          <a:solidFill>
            <a:srgbClr val="F2F6F9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52400" spcFirstLastPara="1" rIns="1524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Higher startup cost, latency, and runtime complexity</a:t>
            </a:r>
            <a:endParaRPr/>
          </a:p>
        </p:txBody>
      </p:sp>
      <p:sp>
        <p:nvSpPr>
          <p:cNvPr id="240" name="Google Shape;240;p11"/>
          <p:cNvSpPr/>
          <p:nvPr/>
        </p:nvSpPr>
        <p:spPr>
          <a:xfrm>
            <a:off x="685800" y="4152900"/>
            <a:ext cx="2857500" cy="9144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228600" spcFirstLastPara="1" rIns="1524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Models matched to task complexity</a:t>
            </a:r>
            <a:endParaRPr/>
          </a:p>
        </p:txBody>
      </p:sp>
      <p:sp>
        <p:nvSpPr>
          <p:cNvPr id="241" name="Google Shape;241;p11"/>
          <p:cNvSpPr/>
          <p:nvPr/>
        </p:nvSpPr>
        <p:spPr>
          <a:xfrm>
            <a:off x="752475" y="4276725"/>
            <a:ext cx="57150" cy="66675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1"/>
          <p:cNvSpPr/>
          <p:nvPr/>
        </p:nvSpPr>
        <p:spPr>
          <a:xfrm>
            <a:off x="3543300" y="4152900"/>
            <a:ext cx="4095750" cy="9144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52400" spcFirstLastPara="1" rIns="1524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Lower-cost control steps; capability reserved for evidence synthesis</a:t>
            </a:r>
            <a:endParaRPr/>
          </a:p>
        </p:txBody>
      </p:sp>
      <p:sp>
        <p:nvSpPr>
          <p:cNvPr id="243" name="Google Shape;243;p11"/>
          <p:cNvSpPr/>
          <p:nvPr/>
        </p:nvSpPr>
        <p:spPr>
          <a:xfrm>
            <a:off x="7639050" y="4152900"/>
            <a:ext cx="3867150" cy="9144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52400" spcFirstLastPara="1" rIns="1524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Multiple LLM calls increase latency and failure surface</a:t>
            </a:r>
            <a:endParaRPr/>
          </a:p>
        </p:txBody>
      </p:sp>
      <p:sp>
        <p:nvSpPr>
          <p:cNvPr id="244" name="Google Shape;244;p11"/>
          <p:cNvSpPr/>
          <p:nvPr/>
        </p:nvSpPr>
        <p:spPr>
          <a:xfrm>
            <a:off x="685800" y="5067300"/>
            <a:ext cx="2857500" cy="914400"/>
          </a:xfrm>
          <a:prstGeom prst="roundRect">
            <a:avLst>
              <a:gd fmla="val 0" name="adj"/>
            </a:avLst>
          </a:prstGeom>
          <a:solidFill>
            <a:srgbClr val="F2F6F9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228600" spcFirstLastPara="1" rIns="1524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75"/>
              <a:buFont typeface="Arial"/>
              <a:buNone/>
            </a:pPr>
            <a:r>
              <a:rPr b="1" lang="en-US" sz="15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Independent answer validation</a:t>
            </a:r>
            <a:endParaRPr/>
          </a:p>
        </p:txBody>
      </p:sp>
      <p:sp>
        <p:nvSpPr>
          <p:cNvPr id="245" name="Google Shape;245;p11"/>
          <p:cNvSpPr/>
          <p:nvPr/>
        </p:nvSpPr>
        <p:spPr>
          <a:xfrm>
            <a:off x="752475" y="5191125"/>
            <a:ext cx="57150" cy="666750"/>
          </a:xfrm>
          <a:prstGeom prst="roundRect">
            <a:avLst>
              <a:gd fmla="val 50000" name="adj"/>
            </a:avLst>
          </a:prstGeom>
          <a:solidFill>
            <a:srgbClr val="B77900"/>
          </a:solidFill>
          <a:ln cap="flat" cmpd="sng" w="9525">
            <a:solidFill>
              <a:srgbClr val="B77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1"/>
          <p:cNvSpPr/>
          <p:nvPr/>
        </p:nvSpPr>
        <p:spPr>
          <a:xfrm>
            <a:off x="3543300" y="5067300"/>
            <a:ext cx="4095750" cy="914400"/>
          </a:xfrm>
          <a:prstGeom prst="roundRect">
            <a:avLst>
              <a:gd fmla="val 0" name="adj"/>
            </a:avLst>
          </a:prstGeom>
          <a:solidFill>
            <a:srgbClr val="F2F6F9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52400" spcFirstLastPara="1" rIns="1524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Faithfulness and context sufficiency are reported separately</a:t>
            </a:r>
            <a:endParaRPr/>
          </a:p>
        </p:txBody>
      </p:sp>
      <p:sp>
        <p:nvSpPr>
          <p:cNvPr id="247" name="Google Shape;247;p11"/>
          <p:cNvSpPr/>
          <p:nvPr/>
        </p:nvSpPr>
        <p:spPr>
          <a:xfrm>
            <a:off x="7639050" y="5067300"/>
            <a:ext cx="3867150" cy="914400"/>
          </a:xfrm>
          <a:prstGeom prst="roundRect">
            <a:avLst>
              <a:gd fmla="val 0" name="adj"/>
            </a:avLst>
          </a:prstGeom>
          <a:solidFill>
            <a:srgbClr val="F2F6F9"/>
          </a:solidFill>
          <a:ln cap="flat" cmpd="sng" w="9525">
            <a:solidFill>
              <a:srgbClr val="D9E2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250" lIns="152400" spcFirstLastPara="1" rIns="152400" wrap="square" tIns="95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Model-based checks are signals—not formal guarantees</a:t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>
            <a:off x="685800" y="6153150"/>
            <a:ext cx="10820400" cy="400050"/>
          </a:xfrm>
          <a:prstGeom prst="roundRect">
            <a:avLst>
              <a:gd fmla="val 19048" name="adj"/>
            </a:avLst>
          </a:prstGeom>
          <a:solidFill>
            <a:srgbClr val="E8F7F1"/>
          </a:solidFill>
          <a:ln cap="flat" cmpd="sng" w="9525">
            <a:solidFill>
              <a:srgbClr val="A7DA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8100" lIns="114300" spcFirstLastPara="1" rIns="1143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654A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06654A"/>
                </a:solidFill>
                <a:latin typeface="Arial"/>
                <a:ea typeface="Arial"/>
                <a:cs typeface="Arial"/>
                <a:sym typeface="Arial"/>
              </a:rPr>
              <a:t>Operating principle: when the evidence is incomplete, the system should say so rather than invent an answer.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"/>
          <p:cNvSpPr/>
          <p:nvPr/>
        </p:nvSpPr>
        <p:spPr>
          <a:xfrm>
            <a:off x="685800" y="285750"/>
            <a:ext cx="2952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5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A8F65"/>
                </a:solidFill>
              </a:rPr>
              <a:t>FUTURE SCOPE</a:t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685800" y="571500"/>
            <a:ext cx="10820400" cy="552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600"/>
              <a:buFont typeface="Play"/>
              <a:buNone/>
            </a:pPr>
            <a:r>
              <a:rPr b="1" lang="en-US" sz="3600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Path to production readiness</a:t>
            </a:r>
            <a:endParaRPr/>
          </a:p>
        </p:txBody>
      </p:sp>
      <p:cxnSp>
        <p:nvCxnSpPr>
          <p:cNvPr id="256" name="Google Shape;256;p12"/>
          <p:cNvCxnSpPr/>
          <p:nvPr/>
        </p:nvCxnSpPr>
        <p:spPr>
          <a:xfrm>
            <a:off x="685800" y="1123950"/>
            <a:ext cx="108204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12"/>
          <p:cNvSpPr/>
          <p:nvPr/>
        </p:nvSpPr>
        <p:spPr>
          <a:xfrm>
            <a:off x="11125200" y="6629400"/>
            <a:ext cx="381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50"/>
              <a:buFont typeface="Arial"/>
              <a:buNone/>
            </a:pPr>
            <a:r>
              <a:rPr b="0" lang="en-US" sz="10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685800" y="1323975"/>
            <a:ext cx="10820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25"/>
              <a:buFont typeface="Arial"/>
              <a:buNone/>
            </a:pPr>
            <a:r>
              <a:rPr b="1" lang="en-US" sz="1425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Three priorities turn a working system into dependable operation.</a:t>
            </a:r>
            <a:endParaRPr/>
          </a:p>
        </p:txBody>
      </p:sp>
      <p:cxnSp>
        <p:nvCxnSpPr>
          <p:cNvPr id="259" name="Google Shape;259;p12"/>
          <p:cNvCxnSpPr/>
          <p:nvPr/>
        </p:nvCxnSpPr>
        <p:spPr>
          <a:xfrm>
            <a:off x="685800" y="1809750"/>
            <a:ext cx="5145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0A8F6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12"/>
          <p:cNvSpPr/>
          <p:nvPr/>
        </p:nvSpPr>
        <p:spPr>
          <a:xfrm>
            <a:off x="685800" y="1971675"/>
            <a:ext cx="3181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Prove quality</a:t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685800" y="2524125"/>
            <a:ext cx="31812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Evaluate individual system components such as models, retrieval, and tool calling.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t/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Run continuous evaluations and detect drift.</a:t>
            </a:r>
            <a:endParaRPr/>
          </a:p>
        </p:txBody>
      </p:sp>
      <p:cxnSp>
        <p:nvCxnSpPr>
          <p:cNvPr id="262" name="Google Shape;262;p12"/>
          <p:cNvCxnSpPr/>
          <p:nvPr/>
        </p:nvCxnSpPr>
        <p:spPr>
          <a:xfrm>
            <a:off x="4362450" y="1809750"/>
            <a:ext cx="5145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6D3DE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12"/>
          <p:cNvSpPr/>
          <p:nvPr/>
        </p:nvSpPr>
        <p:spPr>
          <a:xfrm>
            <a:off x="4362450" y="1971675"/>
            <a:ext cx="31812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Strengthen knowledge</a:t>
            </a:r>
            <a:endParaRPr/>
          </a:p>
        </p:txBody>
      </p:sp>
      <p:sp>
        <p:nvSpPr>
          <p:cNvPr id="264" name="Google Shape;264;p12"/>
          <p:cNvSpPr/>
          <p:nvPr/>
        </p:nvSpPr>
        <p:spPr>
          <a:xfrm>
            <a:off x="4362450" y="2524125"/>
            <a:ext cx="31812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Resolve conflicting, stale, and duplicate documents.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t/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Add episodic, semantic, and procedural memory.</a:t>
            </a:r>
            <a:endParaRPr/>
          </a:p>
        </p:txBody>
      </p:sp>
      <p:cxnSp>
        <p:nvCxnSpPr>
          <p:cNvPr id="265" name="Google Shape;265;p12"/>
          <p:cNvCxnSpPr/>
          <p:nvPr/>
        </p:nvCxnSpPr>
        <p:spPr>
          <a:xfrm>
            <a:off x="8039100" y="1809750"/>
            <a:ext cx="514500" cy="0"/>
          </a:xfrm>
          <a:prstGeom prst="straightConnector1">
            <a:avLst/>
          </a:prstGeom>
          <a:solidFill>
            <a:srgbClr val="000000">
              <a:alpha val="0"/>
            </a:srgbClr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2"/>
          <p:cNvSpPr/>
          <p:nvPr/>
        </p:nvSpPr>
        <p:spPr>
          <a:xfrm>
            <a:off x="8039100" y="1971675"/>
            <a:ext cx="3467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75"/>
              <a:buFont typeface="Arial"/>
              <a:buNone/>
            </a:pPr>
            <a:r>
              <a:rPr b="1" lang="en-US" sz="1875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Operate safely</a:t>
            </a:r>
            <a:endParaRPr/>
          </a:p>
        </p:txBody>
      </p:sp>
      <p:sp>
        <p:nvSpPr>
          <p:cNvPr id="267" name="Google Shape;267;p12"/>
          <p:cNvSpPr/>
          <p:nvPr/>
        </p:nvSpPr>
        <p:spPr>
          <a:xfrm>
            <a:off x="8039100" y="2524125"/>
            <a:ext cx="34671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Defend against document-based prompt injection.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t/>
            </a:r>
            <a:endParaRPr b="0" sz="15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500"/>
              <a:buFont typeface="Arial"/>
              <a:buNone/>
            </a:pPr>
            <a:r>
              <a:rPr b="0" lang="en-US" sz="15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Reduce latency and cost with FAQ caching.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